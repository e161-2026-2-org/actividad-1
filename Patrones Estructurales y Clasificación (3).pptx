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8"/>
  </p:normalViewPr>
  <p:slideViewPr>
    <p:cSldViewPr snapToGrid="0" snapToObjects="1">
      <p:cViewPr varScale="1">
        <p:scale>
          <a:sx n="88" d="100"/>
          <a:sy n="88" d="100"/>
        </p:scale>
        <p:origin x="176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2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5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4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72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9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1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1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1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26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3025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26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52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16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99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9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5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C0A1415-094C-5A35-D529-79F73770E9FE}"/>
              </a:ext>
            </a:extLst>
          </p:cNvPr>
          <p:cNvSpPr txBox="1"/>
          <p:nvPr/>
        </p:nvSpPr>
        <p:spPr>
          <a:xfrm>
            <a:off x="485775" y="2376487"/>
            <a:ext cx="11220450" cy="188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00" b="0" i="0" u="none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DE </a:t>
            </a:r>
            <a:r>
              <a:rPr lang="es-419" sz="1100" b="0" i="0" u="none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TELECOMUNICACIONES</a:t>
            </a:r>
            <a:r>
              <a:rPr sz="1100" b="0" i="0" u="none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GRUPO </a:t>
            </a:r>
            <a:r>
              <a:rPr lang="es-419" sz="1100" b="0" i="0" u="none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sz="1100" b="0" i="0" u="none" dirty="0">
              <a:solidFill>
                <a:srgbClr val="6666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D3E66B-A70B-EEF4-5AA6-F9809C7DC20D}"/>
              </a:ext>
            </a:extLst>
          </p:cNvPr>
          <p:cNvSpPr txBox="1"/>
          <p:nvPr/>
        </p:nvSpPr>
        <p:spPr>
          <a:xfrm>
            <a:off x="485775" y="3290887"/>
            <a:ext cx="11220450" cy="613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i="0" u="none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b="0" i="0" u="none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b="0" i="0" u="none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paradigmas</a:t>
            </a:r>
            <a:r>
              <a:rPr b="0" i="0" u="none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software y </a:t>
            </a:r>
            <a:r>
              <a:rPr b="0" i="0" u="none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profundización</a:t>
            </a:r>
            <a:r>
              <a:rPr b="0" i="0" u="none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i="0" u="none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b="0" i="0" u="none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i="0" u="none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Patrones</a:t>
            </a:r>
            <a:r>
              <a:rPr b="0" i="0" u="none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b="0" i="0" u="none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</a:t>
            </a:r>
            <a:r>
              <a:rPr b="0" i="0" u="none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i="0" u="none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Estructurales</a:t>
            </a:r>
            <a:r>
              <a:rPr b="0" i="0" u="none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(Adapter &amp; Decorator)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DDA3E-81FD-8313-22B0-24EA30A8A6FD}"/>
              </a:ext>
            </a:extLst>
          </p:cNvPr>
          <p:cNvSpPr txBox="1"/>
          <p:nvPr/>
        </p:nvSpPr>
        <p:spPr>
          <a:xfrm>
            <a:off x="485775" y="4129087"/>
            <a:ext cx="11220450" cy="2027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400" b="1" i="0" u="none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Temas </a:t>
            </a:r>
            <a:r>
              <a:rPr sz="1400" b="1" i="0" u="none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sz="1400" b="1" i="0" u="none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400" b="0" i="0" u="none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i="0" u="none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Paradigmas</a:t>
            </a:r>
            <a:r>
              <a:rPr sz="1400" b="0" i="0" u="none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400" b="0" i="0" u="none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Sintaxis</a:t>
            </a:r>
            <a:r>
              <a:rPr sz="1400" b="0" i="0" u="none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400" b="0" i="0" u="none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Patrones</a:t>
            </a:r>
            <a:r>
              <a:rPr sz="1400" b="0" i="0" u="none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i="0" u="none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Estructurales</a:t>
            </a:r>
            <a:r>
              <a:rPr sz="1400" b="0" i="0" u="none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sz="1400" b="0" i="0" u="none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</a:t>
            </a:r>
            <a:r>
              <a:rPr sz="1400" b="0" i="0" u="none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DevOps</a:t>
            </a:r>
            <a:endParaRPr lang="es-419" sz="1400" b="0" i="0" u="none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25"/>
              </a:lnSpc>
            </a:pPr>
            <a:b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25"/>
              </a:lnSpc>
            </a:pPr>
            <a:endParaRPr lang="en-US" sz="14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25"/>
              </a:lnSpc>
            </a:pPr>
            <a:endParaRPr lang="en-US" sz="14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25"/>
              </a:lnSpc>
            </a:pPr>
            <a:b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CO" sz="14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ntegrantes: Andres Felipe Mariscal Galvis</a:t>
            </a:r>
          </a:p>
          <a:p>
            <a:pPr algn="r">
              <a:lnSpc>
                <a:spcPts val="2025"/>
              </a:lnSpc>
            </a:pPr>
            <a:r>
              <a:rPr lang="en-CO" sz="14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Jarlon Andres Montero Rivera</a:t>
            </a:r>
            <a:endParaRPr sz="1400" b="0" i="0" u="none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0A8C68-28D8-66E9-E35E-A6A2474654A7}"/>
              </a:ext>
            </a:extLst>
          </p:cNvPr>
          <p:cNvSpPr txBox="1"/>
          <p:nvPr/>
        </p:nvSpPr>
        <p:spPr>
          <a:xfrm>
            <a:off x="242887" y="2671762"/>
            <a:ext cx="1170622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 dirty="0" err="1">
                <a:solidFill>
                  <a:srgbClr val="333333"/>
                </a:solidFill>
                <a:latin typeface="Arial"/>
              </a:rPr>
              <a:t>Clasificación</a:t>
            </a:r>
            <a:r>
              <a:rPr sz="3300" b="1" i="0" u="none" dirty="0">
                <a:solidFill>
                  <a:srgbClr val="333333"/>
                </a:solidFill>
                <a:latin typeface="Arial"/>
              </a:rPr>
              <a:t> de </a:t>
            </a:r>
            <a:r>
              <a:rPr sz="3300" b="1" i="0" u="none" dirty="0" err="1">
                <a:solidFill>
                  <a:srgbClr val="333333"/>
                </a:solidFill>
                <a:latin typeface="Arial"/>
              </a:rPr>
              <a:t>Programación</a:t>
            </a:r>
            <a:r>
              <a:rPr sz="3300" b="1" i="0" u="none" dirty="0">
                <a:solidFill>
                  <a:srgbClr val="333333"/>
                </a:solidFill>
                <a:latin typeface="Arial"/>
              </a:rPr>
              <a:t> y </a:t>
            </a:r>
            <a:r>
              <a:rPr sz="3300" b="1" i="0" u="none" dirty="0" err="1">
                <a:solidFill>
                  <a:srgbClr val="333333"/>
                </a:solidFill>
                <a:latin typeface="Arial"/>
              </a:rPr>
              <a:t>Patrones</a:t>
            </a:r>
            <a:r>
              <a:rPr sz="3300" b="1" i="0" u="none" dirty="0">
                <a:solidFill>
                  <a:srgbClr val="333333"/>
                </a:solidFill>
                <a:latin typeface="Arial"/>
              </a:rPr>
              <a:t> </a:t>
            </a:r>
            <a:r>
              <a:rPr sz="3300" b="1" i="0" u="none" dirty="0" err="1">
                <a:solidFill>
                  <a:srgbClr val="333333"/>
                </a:solidFill>
                <a:latin typeface="Arial"/>
              </a:rPr>
              <a:t>Estructurales</a:t>
            </a:r>
            <a:endParaRPr sz="3300" b="1" i="0" u="none" dirty="0">
              <a:solidFill>
                <a:srgbClr val="33333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962150"/>
            <a:ext cx="53530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0150"/>
            <a:ext cx="5353050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33800"/>
            <a:ext cx="5353050" cy="2609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71675"/>
            <a:ext cx="533400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189547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Describe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cómo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se ejecuta el cálculo modificando explícitamente el estado del programa paso a paso.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42912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Especifica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qué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resultado se desea obtener sin detallar el algoritmo de control de flujo.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1438275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47775" y="1466850"/>
            <a:ext cx="23502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Paradigma Imperativo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46697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Estructurado: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Control de flujo secuencial y ciclos (C, Pascal).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279082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Orientado a Objetos (POO):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Encapsula estado y métodos en clases (Java, C++, C#).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971925"/>
            <a:ext cx="3429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47775" y="4000500"/>
            <a:ext cx="2400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Paradigma Declarativo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500062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Funcional: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Evaluación de funciones puras e inmutabilidad (Haskell, Scala).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555307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Lógico / Consultas: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Basado en reglas y relaciones (Prolog, SQL).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43840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76225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497205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552450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476250"/>
            <a:ext cx="111213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1. Clasificación por Paradigma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933450"/>
            <a:ext cx="560070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62150"/>
            <a:ext cx="53530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790700"/>
            <a:ext cx="535305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848100"/>
            <a:ext cx="5353050" cy="1905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971675"/>
            <a:ext cx="533400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05575" y="2028825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Nivel de Abstracción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242887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Bajo Nivel: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Cercano al hardware y memoria (Assembly, C). Máximo rendimiento pero mayor complejidad.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00037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Alto Nivel: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Abstrae el hardware mediante estructuras legibles (Python, JavaScript). Prioriza la productividad.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4086225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Modos de Ejecución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448627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Compilados: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Traducen el código a binario ejecutable de forma previa (C++, Rust, Go).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505777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Interpretados / JIT: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Procesan el código o bytecode durante la ejecución (Python, V8 JS, JVM).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76250"/>
            <a:ext cx="111613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2. Abstracción y Modos de Ejecución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933450"/>
            <a:ext cx="473392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962150"/>
            <a:ext cx="53530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95437"/>
            <a:ext cx="5353050" cy="2105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52862"/>
            <a:ext cx="5353050" cy="2095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71675"/>
            <a:ext cx="533400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1833562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Programación Textual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233612"/>
            <a:ext cx="48768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Uso de código escrito mediante reglas gramaticales y sintácticas estrictas (llaves {} o identación obligatoria).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90987"/>
            <a:ext cx="509063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Lenguajes Visuales por Bloques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491037"/>
            <a:ext cx="4848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Representación gráfica de instrucciones encajables (Scratch, Blockly).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814637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Estándar en la industria profesional del software.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138487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Requiere rigor con la sintaxis y tipado.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5062537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Ventaja Clave: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Elimina errores sintácticos de escritura.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5386387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Enfoca el aprendizaje 100% en la lógica algorítmica.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78606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10991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503396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35781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476250"/>
            <a:ext cx="111213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3. Estilos de Sintaxis: Texto vs Bloques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933450"/>
            <a:ext cx="447675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64593"/>
            <a:ext cx="3555950" cy="2614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464593"/>
            <a:ext cx="3555950" cy="2614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00" y="2464593"/>
            <a:ext cx="3555950" cy="26146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226593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1. Creacionales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26643"/>
            <a:ext cx="3079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Tratan sobre mecanismos de creación e instanciación de objetos, aumentando la flexibilidad y reutilización.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655343"/>
            <a:ext cx="30797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Ejemplos: Singleton, Factory Method, Builder.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6075" y="3226593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Poppins SemiBold"/>
              </a:rPr>
              <a:t>2. Estructurales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3626643"/>
            <a:ext cx="3079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TEMA PRINCIPAL ASIGNADO: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Explican cómo ensamblar objetos y clases en estructuras mayores manteniendo la flexibilidad.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4655343"/>
            <a:ext cx="30797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FFFFFF"/>
                </a:solidFill>
                <a:latin typeface="Inter"/>
              </a:rPr>
              <a:t>Ejemplos: Adapter, Decorator, Facade, Proxy.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3226593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3. Comportamiento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626643"/>
            <a:ext cx="3079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Se encargan de la comunicación efectiva y la asignación transparente de responsabilidades entre objetos.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4655343"/>
            <a:ext cx="30797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Ejemplos: Observer, Strategy, Command.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31293"/>
            <a:ext cx="3810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2731293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2731293"/>
            <a:ext cx="3810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700" y="476250"/>
            <a:ext cx="111213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4. Clasificación de Patrones de Diseño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33450"/>
            <a:ext cx="442912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90700"/>
            <a:ext cx="5353050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38600"/>
            <a:ext cx="535305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713434"/>
            <a:ext cx="5353050" cy="21169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028825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Instancia Única Garantizada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42887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Garantiza que una clase posea una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única instancia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en memoria durante la ejecución y provee un punto de acceso global.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048125"/>
            <a:ext cx="5334000" cy="1695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225" y="300037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Uso común: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Conexiones a BD, loggers globales.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32422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Beneficio: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Evita el desperdicio de recursos compartidos.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97180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29565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76250"/>
            <a:ext cx="111613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Ejercicio Creacional: Patrón Singleton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933450"/>
            <a:ext cx="452437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09862"/>
            <a:ext cx="2619375" cy="2571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709862"/>
            <a:ext cx="2619375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709862"/>
            <a:ext cx="2619375" cy="2571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709862"/>
            <a:ext cx="2619375" cy="2571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262187"/>
            <a:ext cx="11049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Facilitan el diseño identificando formas sencillas y eficientes de realizar relaciones entre entidades.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00437"/>
            <a:ext cx="22502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Adapter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900487"/>
            <a:ext cx="21431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Convierte la interfaz de una clase en otra interfaz esperada por los clientes. Permite colaborar a clases incompatibles.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0" y="3500437"/>
            <a:ext cx="22502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Decorator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900487"/>
            <a:ext cx="2143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Añade responsabilidades dinámicamente a los objetos envolviéndolos dentro de otros objetos decoradores.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471862"/>
            <a:ext cx="22502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Facade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871912"/>
            <a:ext cx="21431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Ofrece una interfaz unificada y simplificada para un conjunto complejo de interfaces dentro de un subsistema.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0" y="3471862"/>
            <a:ext cx="22502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0" y="3871912"/>
            <a:ext cx="21431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Proporciona un sustituto o marcador de posición para controlar el acceso y operaciones hacia otro objeto.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005137"/>
            <a:ext cx="2286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0" y="3005137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976562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0" y="2976562"/>
            <a:ext cx="3810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8700" y="476250"/>
            <a:ext cx="111213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TEMA PRINCIPAL: Patrones Estructurales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933450"/>
            <a:ext cx="409575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962150"/>
            <a:ext cx="53530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6025"/>
            <a:ext cx="535305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1971675"/>
            <a:ext cx="533400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724150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¿Qué problema resuelve?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124200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Funciona como un intermediario entre dos interfaces incompatibles que necesitan comunicarse sin modificar su código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6957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Analogía Física: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Adaptador de corriente de viaje para distintos enchufes de pared.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248150"/>
            <a:ext cx="46482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Caso en Software: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Convertir datos XML recibidos de un sistema heredado a formato JSON esperado por un cliente moderno.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66712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21957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76250"/>
            <a:ext cx="111213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Patrón Estructural Elegido: Adapter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33450"/>
            <a:ext cx="481965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8900"/>
            <a:ext cx="535305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713434"/>
            <a:ext cx="5353050" cy="21169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2867025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Funcionamiento del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267075"/>
            <a:ext cx="48768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El cliente espera interactuar con el método sendJson().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19500"/>
            <a:ext cx="48768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El servicio heredado LegacyXmlService solo entiende sendXml().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210050"/>
            <a:ext cx="48768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El NotificationAdapter envuelve el servicio antiguo y traduce los datos transparentemente.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76250"/>
            <a:ext cx="111613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Patrón Adapter: Implementación en Código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933450"/>
            <a:ext cx="355282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62150"/>
            <a:ext cx="53530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495550"/>
            <a:ext cx="5353050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971675"/>
            <a:ext cx="533400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05575" y="2733675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Comportamiento Dinámico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313372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Permite añadir funcionalidades a objetos individuales de forma dinámica sin alterar la estructura original ni usar herencia estática.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175" y="370522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Evita la Herencia Rígida: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Elimina la "explosión de subclases" para cada combinación de características.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4175" y="425767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Ejemplo: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Envolver un notificador básico con capas de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Encriptación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,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Compresión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o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Logging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67665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422910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76250"/>
            <a:ext cx="111213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Patrón Estructural Secundario: Decorator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33450"/>
            <a:ext cx="388620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962150"/>
            <a:ext cx="53530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5353050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57700"/>
            <a:ext cx="5353050" cy="1333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2450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71675"/>
            <a:ext cx="533400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1990725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Patrones Arquitectónicos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39077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Organizan la estructura macroscópica de todo el sistema de software.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695825"/>
            <a:ext cx="51206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Integración en DevOps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5095875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Cultura de automatización que une el desarrollo y las operaciones mediante pipelines CI/CD.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96227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MVC (Modelo-Vista-Controlador):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Separa interfaz, datos y lógica.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51472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Microservicios: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Divide el sistema en servicios independientes y escalables.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93370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48615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F46E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76250"/>
            <a:ext cx="1108138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Arquitectura de Software y DevOps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933450"/>
            <a:ext cx="484822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6BB1F-6224-200C-D518-7C99FD4BDB84}"/>
              </a:ext>
            </a:extLst>
          </p:cNvPr>
          <p:cNvSpPr txBox="1"/>
          <p:nvPr/>
        </p:nvSpPr>
        <p:spPr>
          <a:xfrm>
            <a:off x="242887" y="2586037"/>
            <a:ext cx="117062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333333"/>
                </a:solidFill>
                <a:latin typeface="Arial"/>
              </a:rPr>
              <a:t>¡</a:t>
            </a:r>
            <a:r>
              <a:rPr sz="2400" b="1" i="0" u="none" dirty="0" err="1">
                <a:solidFill>
                  <a:srgbClr val="333333"/>
                </a:solidFill>
                <a:latin typeface="Arial"/>
              </a:rPr>
              <a:t>Muchas</a:t>
            </a:r>
            <a:r>
              <a:rPr sz="2400" b="1" i="0" u="none" dirty="0">
                <a:solidFill>
                  <a:srgbClr val="333333"/>
                </a:solidFill>
                <a:latin typeface="Arial"/>
              </a:rPr>
              <a:t> Gracias </a:t>
            </a:r>
            <a:r>
              <a:rPr sz="2400" b="1" i="0" u="none" dirty="0" err="1">
                <a:solidFill>
                  <a:srgbClr val="333333"/>
                </a:solidFill>
                <a:latin typeface="Arial"/>
              </a:rPr>
              <a:t>por</a:t>
            </a:r>
            <a:r>
              <a:rPr sz="2400" b="1" i="0" u="none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b="1" i="0" u="none" dirty="0" err="1">
                <a:solidFill>
                  <a:srgbClr val="333333"/>
                </a:solidFill>
                <a:latin typeface="Arial"/>
              </a:rPr>
              <a:t>su</a:t>
            </a:r>
            <a:r>
              <a:rPr sz="2400" b="1" i="0" u="none" dirty="0">
                <a:solidFill>
                  <a:srgbClr val="333333"/>
                </a:solidFill>
                <a:latin typeface="Arial"/>
              </a:rPr>
              <a:t> </a:t>
            </a:r>
            <a:r>
              <a:rPr sz="2400" b="1" i="0" u="none" dirty="0" err="1">
                <a:solidFill>
                  <a:srgbClr val="333333"/>
                </a:solidFill>
                <a:latin typeface="Arial"/>
              </a:rPr>
              <a:t>Atención</a:t>
            </a:r>
            <a:r>
              <a:rPr sz="2400" b="1" i="0" u="none" dirty="0">
                <a:solidFill>
                  <a:srgbClr val="333333"/>
                </a:solidFill>
                <a:latin typeface="Arial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EA19D-647C-C1AF-BBC0-DADCB034DBC8}"/>
              </a:ext>
            </a:extLst>
          </p:cNvPr>
          <p:cNvSpPr txBox="1"/>
          <p:nvPr/>
        </p:nvSpPr>
        <p:spPr>
          <a:xfrm>
            <a:off x="485775" y="3081337"/>
            <a:ext cx="11220450" cy="288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555555"/>
                </a:solidFill>
                <a:latin typeface="Arial"/>
              </a:rPr>
              <a:t>Exposición</a:t>
            </a:r>
            <a:r>
              <a:rPr sz="1650" b="0" i="0" u="none" dirty="0">
                <a:solidFill>
                  <a:srgbClr val="555555"/>
                </a:solidFill>
                <a:latin typeface="Arial"/>
              </a:rPr>
              <a:t> Grupo </a:t>
            </a:r>
            <a:r>
              <a:rPr lang="es-419" sz="1650" b="0" i="0" u="none" dirty="0">
                <a:solidFill>
                  <a:srgbClr val="555555"/>
                </a:solidFill>
                <a:latin typeface="Arial"/>
              </a:rPr>
              <a:t>6</a:t>
            </a:r>
            <a:r>
              <a:rPr sz="1650" b="0" i="0" u="none" dirty="0">
                <a:solidFill>
                  <a:srgbClr val="555555"/>
                </a:solidFill>
                <a:latin typeface="Arial"/>
              </a:rPr>
              <a:t> • </a:t>
            </a:r>
            <a:r>
              <a:rPr sz="1650" b="0" i="0" u="none" dirty="0" err="1">
                <a:solidFill>
                  <a:srgbClr val="555555"/>
                </a:solidFill>
                <a:latin typeface="Arial"/>
              </a:rPr>
              <a:t>Clasificación</a:t>
            </a:r>
            <a:r>
              <a:rPr sz="1650" b="0" i="0" u="none" dirty="0">
                <a:solidFill>
                  <a:srgbClr val="555555"/>
                </a:solidFill>
                <a:latin typeface="Arial"/>
              </a:rPr>
              <a:t> de </a:t>
            </a:r>
            <a:r>
              <a:rPr sz="1650" b="0" i="0" u="none" dirty="0" err="1">
                <a:solidFill>
                  <a:srgbClr val="555555"/>
                </a:solidFill>
                <a:latin typeface="Arial"/>
              </a:rPr>
              <a:t>Programación</a:t>
            </a:r>
            <a:r>
              <a:rPr sz="1650" b="0" i="0" u="none" dirty="0">
                <a:solidFill>
                  <a:srgbClr val="555555"/>
                </a:solidFill>
                <a:latin typeface="Arial"/>
              </a:rPr>
              <a:t> y </a:t>
            </a:r>
            <a:r>
              <a:rPr sz="1650" b="0" i="0" u="none" dirty="0" err="1">
                <a:solidFill>
                  <a:srgbClr val="555555"/>
                </a:solidFill>
                <a:latin typeface="Arial"/>
              </a:rPr>
              <a:t>Patrones</a:t>
            </a:r>
            <a:r>
              <a:rPr sz="1650" b="0" i="0" u="none" dirty="0">
                <a:solidFill>
                  <a:srgbClr val="555555"/>
                </a:solidFill>
                <a:latin typeface="Arial"/>
              </a:rPr>
              <a:t> </a:t>
            </a:r>
            <a:r>
              <a:rPr sz="1650" b="0" i="0" u="none" dirty="0" err="1">
                <a:solidFill>
                  <a:srgbClr val="555555"/>
                </a:solidFill>
                <a:latin typeface="Arial"/>
              </a:rPr>
              <a:t>Estructurales</a:t>
            </a:r>
            <a:endParaRPr sz="1650" b="0" i="0" u="none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A8841-E782-E5FD-4999-692E2764FF98}"/>
              </a:ext>
            </a:extLst>
          </p:cNvPr>
          <p:cNvSpPr txBox="1"/>
          <p:nvPr/>
        </p:nvSpPr>
        <p:spPr>
          <a:xfrm>
            <a:off x="485775" y="3919537"/>
            <a:ext cx="11220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3333"/>
                </a:solidFill>
                <a:latin typeface="Arial"/>
              </a:rPr>
              <a:t>Estamos listos para atender sus dudas y comentarios.</a:t>
            </a:r>
          </a:p>
        </p:txBody>
      </p:sp>
    </p:spTree>
    <p:extLst>
      <p:ext uri="{BB962C8B-B14F-4D97-AF65-F5344CB8AC3E}">
        <p14:creationId xmlns:p14="http://schemas.microsoft.com/office/powerpoint/2010/main" val="3460500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812</Words>
  <Application>Microsoft Macintosh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Century Gothic</vt:lpstr>
      <vt:lpstr>Inter</vt:lpstr>
      <vt:lpstr>Poppins</vt:lpstr>
      <vt:lpstr>Poppins SemiBold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ANDRES FELIPE MARISCAL GALVIS</cp:lastModifiedBy>
  <cp:revision>2</cp:revision>
  <dcterms:created xsi:type="dcterms:W3CDTF">2013-01-27T09:14:16Z</dcterms:created>
  <dcterms:modified xsi:type="dcterms:W3CDTF">2026-08-26T16:40:11Z</dcterms:modified>
  <cp:category/>
</cp:coreProperties>
</file>